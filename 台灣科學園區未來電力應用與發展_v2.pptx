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68453"/>
            <a:ext cx="7315200" cy="118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3294" b="1" spc="2" kern="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能源轉型期之電網韌性與</a:t>
            </a:r>
            <a:r>
              <a:rPr lang="en-US" sz="3294" b="1" spc="2" kern="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r>
              <a:rPr lang="en-US" sz="3294" b="1" spc="2" kern="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產業用電效益評估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914400" y="3271475"/>
            <a:ext cx="73152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風險控管、經濟脫鉤與 ESG 戰略</a:t>
            </a:r>
            <a:endParaRPr lang="en-US" sz="160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秒掌握全貌：四大關鍵風險與機會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台灣能源轉型正處於關鍵十字路口，以下四大發現構成本報告核心論述：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1644848"/>
            <a:ext cx="3929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030611"/>
            <a:ext cx="392906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高進口能源依賴與備轉脆弱期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362070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台灣發電燃料進口依存度長期維持在 95% 以上，面對地緣政治風險，電網具有天然脆弱性。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43438" y="1644848"/>
            <a:ext cx="3929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4643438" y="2030611"/>
            <a:ext cx="392906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極端氣候與綠能季節波動加劇調度風險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643438" y="2362070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氣溫飆高直接拉升尖峰負載，而綠電「看天吃飯」的特性使供需矛盾在夏季達到頂峰。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437037"/>
            <a:ext cx="3929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436" dirty="0"/>
          </a:p>
        </p:txBody>
      </p:sp>
      <p:sp>
        <p:nvSpPr>
          <p:cNvPr id="12" name="Text 9"/>
          <p:cNvSpPr/>
          <p:nvPr/>
        </p:nvSpPr>
        <p:spPr>
          <a:xfrm>
            <a:off x="571500" y="3822799"/>
            <a:ext cx="392906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半導體用電具極高經濟價值，已達 GDP 脫鉤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571500" y="4154258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電子產品製造業的 GDP 用電脫鉤指數高達 1.55，每度電創造的經濟價值遠超其他產業。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43438" y="3437037"/>
            <a:ext cx="3929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2436" dirty="0"/>
          </a:p>
        </p:txBody>
      </p:sp>
      <p:sp>
        <p:nvSpPr>
          <p:cNvPr id="15" name="Text 12"/>
          <p:cNvSpPr/>
          <p:nvPr/>
        </p:nvSpPr>
        <p:spPr>
          <a:xfrm>
            <a:off x="4643438" y="3822799"/>
            <a:ext cx="392906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園區灰電比例過高的掉單風險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4643438" y="4154258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高科技園區高達八成用電仍來自化石燃料，嚴重落後 RE100 與國際供應鏈標準。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台灣發電結構的轉型進程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綠能總量與佔比穩定雙升的長期趨勢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30561"/>
            <a:ext cx="5018624" cy="3214688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73436"/>
            <a:ext cx="4732734" cy="307181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874" y="249049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11630" y="2438698"/>
            <a:ext cx="9144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關鍵趨勢</a:t>
            </a:r>
            <a:endParaRPr lang="en-US" sz="160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74" y="3028057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25905" y="2985195"/>
            <a:ext cx="14108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總量年均成長 12%</a:t>
            </a:r>
            <a:endParaRPr lang="en-US" sz="1269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874" y="3463826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25905" y="3420963"/>
            <a:ext cx="15680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佔比從 5% 升至 10%</a:t>
            </a:r>
            <a:endParaRPr lang="en-US" sz="1269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874" y="3899595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25905" y="3856732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太陽光電為主要驅動力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結構性風險：進口能源依賴與集中度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燃料集中度高且依賴進口，電網具天然脆弱性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30561"/>
            <a:ext cx="3857625" cy="2286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30561"/>
            <a:ext cx="3857625" cy="21431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4"/>
          <p:cNvSpPr/>
          <p:nvPr/>
        </p:nvSpPr>
        <p:spPr>
          <a:xfrm>
            <a:off x="678656" y="1737717"/>
            <a:ext cx="36433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發電燃料 HHI 與 進口能源依存度</a:t>
            </a:r>
            <a:endParaRPr lang="en-US" sz="88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996678"/>
            <a:ext cx="3643313" cy="17859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14875" y="1630561"/>
            <a:ext cx="3857625" cy="2286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1630561"/>
            <a:ext cx="3857625" cy="21431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7"/>
          <p:cNvSpPr/>
          <p:nvPr/>
        </p:nvSpPr>
        <p:spPr>
          <a:xfrm>
            <a:off x="4822031" y="1737717"/>
            <a:ext cx="36433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進口能源依存度 與 備轉容量率</a:t>
            </a:r>
            <a:endParaRPr lang="en-US" sz="88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996678"/>
            <a:ext cx="3643313" cy="17859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1500" y="4130873"/>
            <a:ext cx="8001000" cy="54292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4" name="Shape 9"/>
          <p:cNvSpPr/>
          <p:nvPr/>
        </p:nvSpPr>
        <p:spPr>
          <a:xfrm>
            <a:off x="571500" y="4130873"/>
            <a:ext cx="42863" cy="54292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4273748"/>
            <a:ext cx="257175" cy="2571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5863" y="4273748"/>
            <a:ext cx="66865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過渡期痛點：</a:t>
            </a:r>
            <a:r>
              <a:rPr lang="en-US" sz="1193" b="1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面對地緣政治風險，台灣電網因高進口依賴與燃料集中，具有天然脆弱性。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電網體質檢視：脆弱月份落點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每年 5-7 月為備轉容量率低谷，系統防禦力最弱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30561"/>
            <a:ext cx="5018624" cy="3214688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73436"/>
            <a:ext cx="4732734" cy="292893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874" y="2121889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11630" y="2070097"/>
            <a:ext cx="9144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關鍵發現</a:t>
            </a:r>
            <a:endParaRPr lang="en-US" sz="160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74" y="2659456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25905" y="2616594"/>
            <a:ext cx="244659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 年 5-7 月電網防禦力最低，低備轉天數達 30 天，創歷年新高。</a:t>
            </a:r>
            <a:endParaRPr lang="en-US" sz="1159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874" y="3340959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25905" y="3298096"/>
            <a:ext cx="244659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每年 5-7 月備轉容量率普遍低於 10%，進入警戒區間。</a:t>
            </a:r>
            <a:endParaRPr lang="en-US" sz="1159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874" y="4022461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25905" y="3979599"/>
            <a:ext cx="244659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需強化夏季電力調度與風險控管，以確保系統穩定。</a:t>
            </a:r>
            <a:endParaRPr lang="en-US" sz="115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缺電警報：極端情境的歷史重演機率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備轉容量不足非單一事件，電網頻繁踩在缺電紅線上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487686"/>
            <a:ext cx="5501720" cy="2500313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573411"/>
            <a:ext cx="5314950" cy="231457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011" y="1682353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30336" y="1630561"/>
            <a:ext cx="13716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歷史重演風險</a:t>
            </a:r>
            <a:endParaRPr lang="en-US" sz="160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011" y="2091333"/>
            <a:ext cx="71438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3174" y="2077045"/>
            <a:ext cx="2199326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2018-2019 年氣泡最大且偏黃/橙色，顯示長期處於警戒狀態。</a:t>
            </a:r>
            <a:endParaRPr lang="en-US" sz="1159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011" y="2837073"/>
            <a:ext cx="71438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73174" y="2822786"/>
            <a:ext cx="219932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每年 5-6 月區域氣泡最為密集，為系統防禦力最弱時期。</a:t>
            </a:r>
            <a:endParaRPr lang="en-US" sz="1159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011" y="3362809"/>
            <a:ext cx="71438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73174" y="3348521"/>
            <a:ext cx="219932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備轉容量率低於 6% 的紅色氣泡高度集中在夏季。</a:t>
            </a:r>
            <a:endParaRPr lang="en-US" sz="1159" dirty="0"/>
          </a:p>
        </p:txBody>
      </p:sp>
      <p:sp>
        <p:nvSpPr>
          <p:cNvPr id="15" name="Shape 7"/>
          <p:cNvSpPr/>
          <p:nvPr/>
        </p:nvSpPr>
        <p:spPr>
          <a:xfrm>
            <a:off x="6216011" y="3874257"/>
            <a:ext cx="2356489" cy="11162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8"/>
          <p:cNvSpPr/>
          <p:nvPr/>
        </p:nvSpPr>
        <p:spPr>
          <a:xfrm>
            <a:off x="6287449" y="3945694"/>
            <a:ext cx="221361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氣泡顏色說明 (備轉容量率)</a:t>
            </a:r>
            <a:endParaRPr lang="en-US" sz="784" dirty="0"/>
          </a:p>
        </p:txBody>
      </p:sp>
      <p:sp>
        <p:nvSpPr>
          <p:cNvPr id="17" name="Text 9"/>
          <p:cNvSpPr/>
          <p:nvPr/>
        </p:nvSpPr>
        <p:spPr>
          <a:xfrm>
            <a:off x="6444611" y="4168936"/>
            <a:ext cx="5679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 10% (安全)</a:t>
            </a:r>
            <a:endParaRPr lang="en-US" sz="727" dirty="0"/>
          </a:p>
        </p:txBody>
      </p:sp>
      <p:sp>
        <p:nvSpPr>
          <p:cNvPr id="18" name="Text 10"/>
          <p:cNvSpPr/>
          <p:nvPr/>
        </p:nvSpPr>
        <p:spPr>
          <a:xfrm>
            <a:off x="6444611" y="4356460"/>
            <a:ext cx="70901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6% - 10% (警戒)</a:t>
            </a:r>
            <a:endParaRPr lang="en-US" sz="727" dirty="0"/>
          </a:p>
        </p:txBody>
      </p:sp>
      <p:sp>
        <p:nvSpPr>
          <p:cNvPr id="19" name="Text 11"/>
          <p:cNvSpPr/>
          <p:nvPr/>
        </p:nvSpPr>
        <p:spPr>
          <a:xfrm>
            <a:off x="6444611" y="4543983"/>
            <a:ext cx="51077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6% (緊急)</a:t>
            </a:r>
            <a:endParaRPr lang="en-US" sz="727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7449" y="4753831"/>
            <a:ext cx="100013" cy="1000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458899" y="4731507"/>
            <a:ext cx="10108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氣泡大小 = 低備轉天數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氣候極端化對負載的推升效應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氣溫飆高直接拉升尖峰負載，增加調度難度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30561"/>
            <a:ext cx="5018624" cy="32146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30561"/>
            <a:ext cx="5018624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73436"/>
            <a:ext cx="4732734" cy="290036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874" y="2121889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11630" y="2070097"/>
            <a:ext cx="9144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關鍵風險</a:t>
            </a:r>
            <a:endParaRPr lang="en-US" sz="160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74" y="2659456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08046" y="2616594"/>
            <a:ext cx="246445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極端高溫事件頻發，推升尖峰負載屢創新高</a:t>
            </a:r>
            <a:endParaRPr lang="en-US" sz="1159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874" y="3340959"/>
            <a:ext cx="125016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08046" y="3298096"/>
            <a:ext cx="246445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氣候變遷導致負載預測模型失效，增加調度不確定性</a:t>
            </a:r>
            <a:endParaRPr lang="en-US" sz="1159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874" y="4022461"/>
            <a:ext cx="125016" cy="1428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08046" y="3979599"/>
            <a:ext cx="246445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備轉容量在高溫日迅速消耗，系統壓力劇增</a:t>
            </a:r>
            <a:endParaRPr lang="en-US" sz="11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綠能供給的先天限制：季節性波動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168003"/>
            <a:ext cx="82867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綠電「看天吃飯」，無法提供穩定的基載電力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559123"/>
            <a:ext cx="5248815" cy="257175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644848"/>
            <a:ext cx="5061347" cy="247173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612" y="2239426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5937" y="2187634"/>
            <a:ext cx="16002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供給結構性缺口</a:t>
            </a:r>
            <a:endParaRPr lang="en-US" sz="160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612" y="2676981"/>
            <a:ext cx="171450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48787" y="2648406"/>
            <a:ext cx="785813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風力發電：</a:t>
            </a:r>
            <a:endParaRPr lang="en-US" sz="1090" dirty="0"/>
          </a:p>
        </p:txBody>
      </p:sp>
      <p:sp>
        <p:nvSpPr>
          <p:cNvPr id="11" name="Text 5"/>
          <p:cNvSpPr/>
          <p:nvPr/>
        </p:nvSpPr>
        <p:spPr>
          <a:xfrm>
            <a:off x="7020325" y="2648406"/>
            <a:ext cx="1571625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秋冬集中，春夏偏低。</a:t>
            </a:r>
            <a:endParaRPr lang="en-US" sz="1159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612" y="2990580"/>
            <a:ext cx="171450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48787" y="2962005"/>
            <a:ext cx="775264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太陽光電：</a:t>
            </a:r>
            <a:endParaRPr lang="en-US" sz="1090" dirty="0"/>
          </a:p>
        </p:txBody>
      </p:sp>
      <p:sp>
        <p:nvSpPr>
          <p:cNvPr id="14" name="Text 7"/>
          <p:cNvSpPr/>
          <p:nvPr/>
        </p:nvSpPr>
        <p:spPr>
          <a:xfrm>
            <a:off x="7009777" y="2962005"/>
            <a:ext cx="1705598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夏季高，冬季日照不足。</a:t>
            </a:r>
            <a:endParaRPr lang="en-US" sz="1159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612" y="3532054"/>
            <a:ext cx="171450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48787" y="3503479"/>
            <a:ext cx="729667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水力發電：</a:t>
            </a:r>
            <a:endParaRPr lang="en-US" sz="1090" dirty="0"/>
          </a:p>
        </p:txBody>
      </p:sp>
      <p:sp>
        <p:nvSpPr>
          <p:cNvPr id="17" name="Text 9"/>
          <p:cNvSpPr/>
          <p:nvPr/>
        </p:nvSpPr>
        <p:spPr>
          <a:xfrm>
            <a:off x="6964180" y="3503479"/>
            <a:ext cx="1751195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受降雨影響，枯水期減少。</a:t>
            </a:r>
            <a:endParaRPr lang="en-US" sz="1159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612" y="4073528"/>
            <a:ext cx="171450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148787" y="4044953"/>
            <a:ext cx="826945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備轉容量率：</a:t>
            </a:r>
            <a:endParaRPr lang="en-US" sz="1090" dirty="0"/>
          </a:p>
        </p:txBody>
      </p:sp>
      <p:sp>
        <p:nvSpPr>
          <p:cNvPr id="20" name="Text 11"/>
          <p:cNvSpPr/>
          <p:nvPr/>
        </p:nvSpPr>
        <p:spPr>
          <a:xfrm>
            <a:off x="7061457" y="4044953"/>
            <a:ext cx="1653918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夏季為低點，與風力錯配。</a:t>
            </a:r>
            <a:endParaRPr lang="en-US" sz="11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供需矛盾：穩定需求 vs 波動供給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工業用電呈現 24 小時剛性需求，與波動綠電形成強烈落差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430536"/>
            <a:ext cx="5018819" cy="2143125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16261"/>
            <a:ext cx="4718447" cy="204311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874" y="1631231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68780" y="1579438"/>
            <a:ext cx="1143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結構性落差</a:t>
            </a:r>
            <a:endParaRPr lang="en-US" sz="160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74" y="2083073"/>
            <a:ext cx="171450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54480" y="2054498"/>
            <a:ext cx="364806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剛性基載需求：</a:t>
            </a:r>
            <a:endParaRPr lang="en-US" sz="1090" dirty="0"/>
          </a:p>
        </p:txBody>
      </p:sp>
      <p:sp>
        <p:nvSpPr>
          <p:cNvPr id="11" name="Text 5"/>
          <p:cNvSpPr/>
          <p:nvPr/>
        </p:nvSpPr>
        <p:spPr>
          <a:xfrm>
            <a:off x="6626442" y="2054498"/>
            <a:ext cx="1946058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工業用電佔比常年維持在 50-60%，且產線需 24 小時連續運轉，無法配合綠電波動。</a:t>
            </a:r>
            <a:endParaRPr lang="en-US" sz="1159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874" y="3063106"/>
            <a:ext cx="171450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54480" y="3034531"/>
            <a:ext cx="456251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夏季民生尖峰：</a:t>
            </a:r>
            <a:endParaRPr lang="en-US" sz="1090" dirty="0"/>
          </a:p>
        </p:txBody>
      </p:sp>
      <p:sp>
        <p:nvSpPr>
          <p:cNvPr id="14" name="Text 7"/>
          <p:cNvSpPr/>
          <p:nvPr/>
        </p:nvSpPr>
        <p:spPr>
          <a:xfrm>
            <a:off x="6717888" y="3034531"/>
            <a:ext cx="1854612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民生用電在夏季（6-9月）顯著攀升，進一步壓縮系統備轉容量。</a:t>
            </a:r>
            <a:endParaRPr lang="en-US" sz="1159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874" y="4043139"/>
            <a:ext cx="171450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54480" y="4014564"/>
            <a:ext cx="385149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調度挑戰加劇：</a:t>
            </a:r>
            <a:endParaRPr lang="en-US" sz="1090" dirty="0"/>
          </a:p>
        </p:txBody>
      </p:sp>
      <p:sp>
        <p:nvSpPr>
          <p:cNvPr id="17" name="Text 9"/>
          <p:cNvSpPr/>
          <p:nvPr/>
        </p:nvSpPr>
        <p:spPr>
          <a:xfrm>
            <a:off x="6646785" y="4014564"/>
            <a:ext cx="1925715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穩定的高科技製造需求與「看天吃飯」的再生能源，形成難以調和的供需矛盾。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釐清迷思：工業用電與經濟成長已脫鉤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82278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電子產品製造業的脫鉤指數最高，用電增長遠低於產值增長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330523"/>
            <a:ext cx="4682337" cy="21431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30523"/>
            <a:ext cx="4682337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416248"/>
            <a:ext cx="4509492" cy="1943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53862" y="1373386"/>
            <a:ext cx="3118638" cy="888309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Shape 5"/>
          <p:cNvSpPr/>
          <p:nvPr/>
        </p:nvSpPr>
        <p:spPr>
          <a:xfrm>
            <a:off x="5453862" y="1373386"/>
            <a:ext cx="42863" cy="888309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587" y="1497509"/>
            <a:ext cx="128588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39612" y="1459111"/>
            <a:ext cx="17145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什麼是「脫鉤指數」？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539587" y="1764506"/>
            <a:ext cx="2947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脫鉤指數 = 附加價值成長率 / 用電量成長率。指數 &gt; 1 表示經濟成長快於用電成長，代表能源效率提升。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862" y="2324565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82462" y="2295990"/>
            <a:ext cx="1802318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電子零組件製造業表現最佳：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7570505" y="2295990"/>
            <a:ext cx="1001995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脫鉤指數 1.55。</a:t>
            </a:r>
            <a:endParaRPr lang="en-US" sz="1159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862" y="2790304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82462" y="2761729"/>
            <a:ext cx="892271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打破耗能迷思：</a:t>
            </a:r>
            <a:endParaRPr lang="en-US" sz="1090" dirty="0"/>
          </a:p>
        </p:txBody>
      </p:sp>
      <p:sp>
        <p:nvSpPr>
          <p:cNvPr id="18" name="Text 11"/>
          <p:cNvSpPr/>
          <p:nvPr/>
        </p:nvSpPr>
        <p:spPr>
          <a:xfrm>
            <a:off x="6660459" y="2761729"/>
            <a:ext cx="1912041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半導體用電大，但產值增長更快。</a:t>
            </a:r>
            <a:endParaRPr lang="en-US" sz="1159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862" y="3256043"/>
            <a:ext cx="142875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82462" y="3227468"/>
            <a:ext cx="785199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產業轉型成效：</a:t>
            </a:r>
            <a:endParaRPr lang="en-US" sz="1090" dirty="0"/>
          </a:p>
        </p:txBody>
      </p:sp>
      <p:sp>
        <p:nvSpPr>
          <p:cNvPr id="21" name="Text 13"/>
          <p:cNvSpPr/>
          <p:nvPr/>
        </p:nvSpPr>
        <p:spPr>
          <a:xfrm>
            <a:off x="6553386" y="3227468"/>
            <a:ext cx="2019114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工業正朝高附加價值與高能源效率轉型。</a:t>
            </a:r>
            <a:endParaRPr lang="en-US" sz="115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經濟基石：電力創造的附加價值翻倍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每度電能創造的 GDP 逐年穩定攀升，展現產業高值化成果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30561"/>
            <a:ext cx="8001000" cy="20002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30561"/>
            <a:ext cx="8001000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73436"/>
            <a:ext cx="7715250" cy="16859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3773686"/>
            <a:ext cx="2571750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3773686"/>
            <a:ext cx="42863" cy="8572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3338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0113" y="3811191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十年成長幅度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685800" y="4089797"/>
            <a:ext cx="231457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+127%</a:t>
            </a:r>
            <a:endParaRPr lang="en-US" sz="1808" dirty="0"/>
          </a:p>
        </p:txBody>
      </p:sp>
      <p:sp>
        <p:nvSpPr>
          <p:cNvPr id="13" name="Text 8"/>
          <p:cNvSpPr/>
          <p:nvPr/>
        </p:nvSpPr>
        <p:spPr>
          <a:xfrm>
            <a:off x="685800" y="4427339"/>
            <a:ext cx="231457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2015 至 2025 年每度電產值成長率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257550" y="3773686"/>
            <a:ext cx="2586038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0"/>
          <p:cNvSpPr/>
          <p:nvPr/>
        </p:nvSpPr>
        <p:spPr>
          <a:xfrm>
            <a:off x="3257550" y="3773686"/>
            <a:ext cx="42863" cy="8572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8" y="3808512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00450" y="3776365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產業升級紅利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3386138" y="4054971"/>
            <a:ext cx="232886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高附加價值</a:t>
            </a:r>
            <a:endParaRPr lang="en-US" sz="1808" dirty="0"/>
          </a:p>
        </p:txBody>
      </p:sp>
      <p:sp>
        <p:nvSpPr>
          <p:cNvPr id="19" name="Text 13"/>
          <p:cNvSpPr/>
          <p:nvPr/>
        </p:nvSpPr>
        <p:spPr>
          <a:xfrm>
            <a:off x="3386138" y="4462165"/>
            <a:ext cx="23288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先進製程帶動整體電力經濟效益躍升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5972175" y="3773686"/>
            <a:ext cx="2600325" cy="85725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1" name="Shape 15"/>
          <p:cNvSpPr/>
          <p:nvPr/>
        </p:nvSpPr>
        <p:spPr>
          <a:xfrm>
            <a:off x="5972175" y="3773686"/>
            <a:ext cx="42863" cy="85725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3808512"/>
            <a:ext cx="142875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29363" y="3776365"/>
            <a:ext cx="10804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B4530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 突破性推估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6115050" y="4054971"/>
            <a:ext cx="23431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125 元/度</a:t>
            </a:r>
            <a:endParaRPr lang="en-US" sz="1808" dirty="0"/>
          </a:p>
        </p:txBody>
      </p:sp>
      <p:sp>
        <p:nvSpPr>
          <p:cNvPr id="25" name="Text 18"/>
          <p:cNvSpPr/>
          <p:nvPr/>
        </p:nvSpPr>
        <p:spPr>
          <a:xfrm>
            <a:off x="6115050" y="4462165"/>
            <a:ext cx="23431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預期 AI 伺服器與高效能運算將再創高峰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護國神山的剛性擴張：科學園區數據實證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隨著先進製程演進，用電量上升，但營業額呈現更陡峭的爆發性成長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30561"/>
            <a:ext cx="2524116" cy="322718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30561"/>
            <a:ext cx="2524116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50" y="1811834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0638" y="1773436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新竹科學園區</a:t>
            </a:r>
            <a:endParaRPr lang="en-US" sz="119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128838"/>
            <a:ext cx="2237780" cy="171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375" y="3986213"/>
            <a:ext cx="2238366" cy="66289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竹科作為成熟聚落，用電量呈現平穩微幅增</a:t>
            </a: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長，但透過產品組合優化，營業額仍維持</a:t>
            </a:r>
            <a:r>
              <a:rPr lang="en-US" sz="784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穩定上升趨勢</a:t>
            </a: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，展現極高的營運效率。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3309928" y="1630561"/>
            <a:ext cx="2524116" cy="322718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7"/>
          <p:cNvSpPr/>
          <p:nvPr/>
        </p:nvSpPr>
        <p:spPr>
          <a:xfrm>
            <a:off x="3309928" y="1630561"/>
            <a:ext cx="2524116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463" y="1811834"/>
            <a:ext cx="192881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89781" y="1773436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中部科學園區</a:t>
            </a:r>
            <a:endParaRPr lang="en-US" sz="1193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803" y="2128838"/>
            <a:ext cx="2237780" cy="1714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52803" y="3986213"/>
            <a:ext cx="2238366" cy="66289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中科在產能擴充下，用電量有顯著增加，但</a:t>
            </a: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其帶動的營業額成長曲線</a:t>
            </a:r>
            <a:r>
              <a:rPr lang="en-US" sz="784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明顯陡於用電增長</a:t>
            </a: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，脫鉤效應正在擴大。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6048356" y="1630561"/>
            <a:ext cx="2524116" cy="3227189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8" name="Shape 11"/>
          <p:cNvSpPr/>
          <p:nvPr/>
        </p:nvSpPr>
        <p:spPr>
          <a:xfrm>
            <a:off x="6048356" y="1630561"/>
            <a:ext cx="252411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607" y="1811834"/>
            <a:ext cx="171450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17494" y="1773436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南部科學園區</a:t>
            </a:r>
            <a:endParaRPr lang="en-US" sz="1193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31" y="2128838"/>
            <a:ext cx="2237780" cy="17145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91231" y="3986213"/>
            <a:ext cx="2238366" cy="66289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南科作為 3nm/5nm 先進製程重鎮，雖然用</a:t>
            </a: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電量大幅攀升，但營業額呈現</a:t>
            </a:r>
            <a:r>
              <a:rPr lang="en-US" sz="784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爆發性指數成長</a:t>
            </a: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，是帶動整體產值翻倍的關鍵引擎。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0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投資報酬率驗證：科學園區電力產值效率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25141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南科（3nm/5nm 重鎮）電力產值效率顯著飆高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459111"/>
            <a:ext cx="4715907" cy="2286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59111"/>
            <a:ext cx="4715907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530548"/>
            <a:ext cx="4572000" cy="21145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30282" y="1459111"/>
            <a:ext cx="3142218" cy="888281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Shape 5"/>
          <p:cNvSpPr/>
          <p:nvPr/>
        </p:nvSpPr>
        <p:spPr>
          <a:xfrm>
            <a:off x="5430282" y="1459111"/>
            <a:ext cx="42863" cy="88828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07" y="1583234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58895" y="1544836"/>
            <a:ext cx="24003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核心洞察：高含金量的資源轉換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516007" y="1850231"/>
            <a:ext cx="297076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先進製程雖耗電，但創造的經濟價值遠大於能源成本，展現高投資報酬率。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282" y="2447404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30307" y="2433117"/>
            <a:ext cx="485970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南科效率飆升：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6187715" y="2433117"/>
            <a:ext cx="763656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電力產值效率快速上升。</a:t>
            </a:r>
            <a:endParaRPr lang="en-US" sz="1159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384" y="2447404"/>
            <a:ext cx="144661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67482" y="2433117"/>
            <a:ext cx="507932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竹科穩定高值：</a:t>
            </a:r>
            <a:endParaRPr lang="en-US" sz="1090" dirty="0"/>
          </a:p>
        </p:txBody>
      </p:sp>
      <p:sp>
        <p:nvSpPr>
          <p:cNvPr id="18" name="Text 11"/>
          <p:cNvSpPr/>
          <p:nvPr/>
        </p:nvSpPr>
        <p:spPr>
          <a:xfrm>
            <a:off x="7846851" y="2433117"/>
            <a:ext cx="725649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維持高且穩定的效率。</a:t>
            </a:r>
            <a:endParaRPr lang="en-US" sz="1159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282" y="3117438"/>
            <a:ext cx="160734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62454" y="3103150"/>
            <a:ext cx="340891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打破耗能標籤：</a:t>
            </a:r>
            <a:endParaRPr lang="en-US" sz="1090" dirty="0"/>
          </a:p>
        </p:txBody>
      </p:sp>
      <p:sp>
        <p:nvSpPr>
          <p:cNvPr id="21" name="Text 13"/>
          <p:cNvSpPr/>
          <p:nvPr/>
        </p:nvSpPr>
        <p:spPr>
          <a:xfrm>
            <a:off x="6074783" y="3103150"/>
            <a:ext cx="876588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9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配置電力於高科園區可創最大經濟效益。</a:t>
            </a:r>
            <a:endParaRPr lang="en-US" sz="115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隱形斷鏈危機：園區高度依賴化石燃料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高產值的高科技業，目前高達八成用電仍來自灰電，嚴重落後國際供應鏈標準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59123"/>
            <a:ext cx="8001000" cy="19288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59123"/>
            <a:ext cx="8001000" cy="28575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3423"/>
            <a:ext cx="7772400" cy="16716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3702248"/>
            <a:ext cx="8001000" cy="934045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3702248"/>
            <a:ext cx="42863" cy="93404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871913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787973"/>
            <a:ext cx="72866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1B1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全份報告的轉折與警訊：ESG 合規風險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1143000" y="4093369"/>
            <a:ext cx="728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7F1D1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科學園區的能源結構高度依賴燃煤與燃氣，短期內仍以灰電為主。</a:t>
            </a:r>
            <a:r>
              <a:rPr lang="en-US" sz="987" b="1" dirty="0">
                <a:solidFill>
                  <a:srgbClr val="7F1D1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若不加速導入綠電，產業將面臨嚴重的掉單風險</a:t>
            </a:r>
            <a:r>
              <a:rPr lang="en-US" sz="1050" dirty="0">
                <a:solidFill>
                  <a:srgbClr val="7F1D1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結論與行動方針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8003"/>
            <a:ext cx="8001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認知現狀、治標與治本的三層行動架構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701998"/>
            <a:ext cx="2476509" cy="3298627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01998"/>
            <a:ext cx="2476509" cy="42863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Shape 4"/>
          <p:cNvSpPr/>
          <p:nvPr/>
        </p:nvSpPr>
        <p:spPr>
          <a:xfrm>
            <a:off x="785813" y="1523405"/>
            <a:ext cx="357188" cy="35718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52340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9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25253"/>
            <a:ext cx="385763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375" y="2511028"/>
            <a:ext cx="219075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認知現狀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714375" y="2957513"/>
            <a:ext cx="219075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接受高科技帶來的高用電是必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然趨勢。半導體產業創造了極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高的經濟價值與脫鉤效益，</a:t>
            </a:r>
            <a:r>
              <a:rPr lang="en-US" sz="109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不應以限電為手段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來抑制產業發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展，而應從供給面與調度面著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手。</a:t>
            </a:r>
            <a:endParaRPr lang="en-US" sz="1159" dirty="0"/>
          </a:p>
        </p:txBody>
      </p:sp>
      <p:sp>
        <p:nvSpPr>
          <p:cNvPr id="12" name="Shape 8"/>
          <p:cNvSpPr/>
          <p:nvPr/>
        </p:nvSpPr>
        <p:spPr>
          <a:xfrm>
            <a:off x="3333759" y="1701998"/>
            <a:ext cx="2476509" cy="3298627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3" name="Shape 9"/>
          <p:cNvSpPr/>
          <p:nvPr/>
        </p:nvSpPr>
        <p:spPr>
          <a:xfrm>
            <a:off x="3333759" y="1701998"/>
            <a:ext cx="2476509" cy="4286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0"/>
          <p:cNvSpPr/>
          <p:nvPr/>
        </p:nvSpPr>
        <p:spPr>
          <a:xfrm>
            <a:off x="3548072" y="1523405"/>
            <a:ext cx="357188" cy="3571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3548072" y="152340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93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4" y="2025253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76634" y="2511028"/>
            <a:ext cx="219075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B4530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解方 1 (治標)</a:t>
            </a:r>
            <a:endParaRPr lang="en-US" sz="1602" dirty="0"/>
          </a:p>
        </p:txBody>
      </p:sp>
      <p:sp>
        <p:nvSpPr>
          <p:cNvPr id="18" name="Text 13"/>
          <p:cNvSpPr/>
          <p:nvPr/>
        </p:nvSpPr>
        <p:spPr>
          <a:xfrm>
            <a:off x="3476634" y="2957513"/>
            <a:ext cx="2190759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擴大儲能建置與需求面管理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（DR）。針對每年 </a:t>
            </a:r>
            <a:r>
              <a:rPr lang="en-US" sz="109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5-7 月的低備轉高風險期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，以及極端氣候帶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來的突發負載，建立強韌的防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禦機制，撐過轉型陣痛期。</a:t>
            </a:r>
            <a:endParaRPr lang="en-US" sz="1159" dirty="0"/>
          </a:p>
        </p:txBody>
      </p:sp>
      <p:sp>
        <p:nvSpPr>
          <p:cNvPr id="19" name="Shape 14"/>
          <p:cNvSpPr/>
          <p:nvPr/>
        </p:nvSpPr>
        <p:spPr>
          <a:xfrm>
            <a:off x="6096019" y="1701998"/>
            <a:ext cx="2476509" cy="3298627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096019" y="1701998"/>
            <a:ext cx="2476509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6"/>
          <p:cNvSpPr/>
          <p:nvPr/>
        </p:nvSpPr>
        <p:spPr>
          <a:xfrm>
            <a:off x="6310331" y="1523405"/>
            <a:ext cx="357188" cy="3571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7"/>
          <p:cNvSpPr/>
          <p:nvPr/>
        </p:nvSpPr>
        <p:spPr>
          <a:xfrm>
            <a:off x="6310331" y="152340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93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94" y="2025253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8894" y="2511028"/>
            <a:ext cx="219075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解方 2 (治本)</a:t>
            </a:r>
            <a:endParaRPr lang="en-US" sz="1602" dirty="0"/>
          </a:p>
        </p:txBody>
      </p:sp>
      <p:sp>
        <p:nvSpPr>
          <p:cNvPr id="25" name="Text 19"/>
          <p:cNvSpPr/>
          <p:nvPr/>
        </p:nvSpPr>
        <p:spPr>
          <a:xfrm>
            <a:off x="6238894" y="2957513"/>
            <a:ext cx="219075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全力加速再生能源導入科學園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區。徹底翻轉目前高達八成的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灰電依賴，化解 </a:t>
            </a:r>
            <a:r>
              <a:rPr lang="en-US" sz="109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RE100 與碳關稅（CBAM）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帶來的掉單危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機，確保台灣高科技產業的全</a:t>
            </a:r>
            <a:r>
              <a:rPr lang="en-US" sz="1159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球競爭力。</a:t>
            </a:r>
            <a:endParaRPr lang="en-US" sz="11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2026-04-13T01:58:08Z</dcterms:created>
  <dcterms:modified xsi:type="dcterms:W3CDTF">2026-04-13T01:58:08Z</dcterms:modified>
</cp:coreProperties>
</file>